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3333500" cy="7500000" type="wide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
<Relationship Id="rId11" Type="http://schemas.openxmlformats.org/officeDocument/2006/relationships/slide" Target="slides/slide11.xml"/>
<Relationship Id="rId12" Type="http://schemas.openxmlformats.org/officeDocument/2006/relationships/slide" Target="slides/slide12.xml"/>
<Relationship Id="rId13" Type="http://schemas.openxmlformats.org/officeDocument/2006/relationships/slide" Target="slides/slide13.xml"/>
<Relationship Id="rId14" Type="http://schemas.openxmlformats.org/officeDocument/2006/relationships/slide" Target="slides/slide14.xml"/>
<Relationship Id="rId15" Type="http://schemas.openxmlformats.org/officeDocument/2006/relationships/slide" Target="slides/slide15.xml"/>
<Relationship Id="rId16" Type="http://schemas.openxmlformats.org/officeDocument/2006/relationships/slide" Target="slides/slide16.xml"/>
<Relationship Id="rId17" Type="http://schemas.openxmlformats.org/officeDocument/2006/relationships/slide" Target="slides/slide17.xml"/>
<Relationship Id="rId18" Type="http://schemas.openxmlformats.org/officeDocument/2006/relationships/slide" Target="slides/slide18.xml"/>
<Relationship Id="rId19" Type="http://schemas.openxmlformats.org/officeDocument/2006/relationships/slide" Target="slides/slide19.xml"/>
<Relationship Id="rId20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/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2563EB" accent2="10B981" accent3="F59E0B" accent4="EF4444" accent5="64748B" accent6="0F172A" hlink="2563EB" folHlink="7C3AED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/>

</file>

<file path=ppt/slides/_rels/slide2.xml.rels><?xml version="1.0" encoding="UTF-8" standalone="yes"?>
<Relationships xmlns="http://schemas.openxmlformats.org/package/2006/relationships"/>

</file>

<file path=ppt/slides/_rels/slide3.xml.rels><?xml version="1.0" encoding="UTF-8" standalone="yes"?>
<Relationships xmlns="http://schemas.openxmlformats.org/package/2006/relationships"/>

</file>

<file path=ppt/slides/_rels/slide4.xml.rels><?xml version="1.0" encoding="UTF-8" standalone="yes"?>
<Relationships xmlns="http://schemas.openxmlformats.org/package/2006/relationships"/>

</file>

<file path=ppt/slides/_rels/slide5.xml.rels><?xml version="1.0" encoding="UTF-8" standalone="yes"?>
<Relationships xmlns="http://schemas.openxmlformats.org/package/2006/relationships"/>

</file>

<file path=ppt/slides/_rels/slide6.xml.rels><?xml version="1.0" encoding="UTF-8" standalone="yes"?>
<Relationships xmlns="http://schemas.openxmlformats.org/package/2006/relationships"/>

</file>

<file path=ppt/slides/_rels/slide7.xml.rels><?xml version="1.0" encoding="UTF-8" standalone="yes"?>
<Relationships xmlns="http://schemas.openxmlformats.org/package/2006/relationships"/>

</file>

<file path=ppt/slides/_rels/slide8.xml.rels><?xml version="1.0" encoding="UTF-8" standalone="yes"?>
<Relationships xmlns="http://schemas.openxmlformats.org/package/2006/relationships"/>

</file>

<file path=ppt/slides/_rels/slide9.xml.rels><?xml version="1.0" encoding="UTF-8" standalone="yes"?>
<Relationships xmlns="http://schemas.openxmlformats.org/package/2006/relationships"/>

</file>

<file path=ppt/slides/_rels/slide10.xml.rels><?xml version="1.0" encoding="UTF-8" standalone="yes"?>
<Relationships xmlns="http://schemas.openxmlformats.org/package/2006/relationships"/>

</file>

<file path=ppt/slides/_rels/slide11.xml.rels><?xml version="1.0" encoding="UTF-8" standalone="yes"?>
<Relationships xmlns="http://schemas.openxmlformats.org/package/2006/relationships"/>

</file>

<file path=ppt/slides/_rels/slide12.xml.rels><?xml version="1.0" encoding="UTF-8" standalone="yes"?>
<Relationships xmlns="http://schemas.openxmlformats.org/package/2006/relationships"/>

</file>

<file path=ppt/slides/_rels/slide13.xml.rels><?xml version="1.0" encoding="UTF-8" standalone="yes"?>
<Relationships xmlns="http://schemas.openxmlformats.org/package/2006/relationships"/>

</file>

<file path=ppt/slides/_rels/slide14.xml.rels><?xml version="1.0" encoding="UTF-8" standalone="yes"?>
<Relationships xmlns="http://schemas.openxmlformats.org/package/2006/relationships"/>

</file>

<file path=ppt/slides/_rels/slide15.xml.rels><?xml version="1.0" encoding="UTF-8" standalone="yes"?>
<Relationships xmlns="http://schemas.openxmlformats.org/package/2006/relationships"/>

</file>

<file path=ppt/slides/_rels/slide16.xml.rels><?xml version="1.0" encoding="UTF-8" standalone="yes"?>
<Relationships xmlns="http://schemas.openxmlformats.org/package/2006/relationships"/>

</file>

<file path=ppt/slides/_rels/slide17.xml.rels><?xml version="1.0" encoding="UTF-8" standalone="yes"?>
<Relationships xmlns="http://schemas.openxmlformats.org/package/2006/relationships"/>

</file>

<file path=ppt/slides/_rels/slide18.xml.rels><?xml version="1.0" encoding="UTF-8" standalone="yes"?>
<Relationships xmlns="http://schemas.openxmlformats.org/package/2006/relationships"/>

</file>

<file path=ppt/slides/_rels/slide19.xml.rels><?xml version="1.0" encoding="UTF-8" standalone="yes"?>
<Relationships xmlns="http://schemas.openxmlformats.org/package/2006/relationships"/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3333500" cy="7500000"/>
          <a:chOff x="0" y="0"/>
          <a:chExt cx="13333500" cy="7500000"/>
        </a:xfrm>
      </p:grpSpPr>
      <p:sp>
        <p:nvSpPr>
          <p:cNvPr id="2" name="Rect 2"/>
          <p:cNvSpPr/>
          <p:nvPr/>
        </p:nvSpPr>
        <p:spPr>
          <a:xfrm>
            <a:off x="0" y="0"/>
            <a:ext cx="13333500" cy="25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7250000"/>
            <a:ext cx="13333500" cy="25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00000" y="520000"/>
            <a:ext cx="120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4200">
                <a:b/>
                <a:solidFill>
                  <a:srgbClr val="0F172A"/>
                </a:solidFill>
              </a:rPr>
              <a:t>Banking Microservices on AKS</a:t>
            </a:r>
            <a:endParaRPr lang="en-US" sz="4200"/>
          </a:p>
        </p:txBody>
      </p:sp>
      <p:sp>
        <p:nvSpPr>
          <p:cNvPr id="5" name="TextBox 5"/>
          <p:cNvSpPr txBox="1"/>
          <p:nvPr/>
        </p:nvSpPr>
        <p:spPr>
          <a:xfrm>
            <a:off x="720000" y="1180000"/>
            <a:ext cx="11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200">
                <a:solidFill>
                  <a:srgbClr val="475569"/>
                </a:solidFill>
              </a:rPr>
              <a:t>Terraform, GitHub Actions, AKS, PostgreSQL, Kafka, Key Vault, Helm, Prometheus</a:t>
            </a:r>
            <a:endParaRPr lang="en-US" sz="2200"/>
          </a:p>
        </p:txBody>
      </p:sp>
      <p:sp>
        <p:nvSpPr>
          <p:cNvPr id="6" name="Bullets 6"/>
          <p:cNvSpPr txBox="1"/>
          <p:nvPr/>
        </p:nvSpPr>
        <p:spPr>
          <a:xfrm>
            <a:off x="800000" y="2150000"/>
            <a:ext cx="11800000" cy="47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Cloud-native banking transaction workflow deployed to Azure Kubernetes Service.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Infrastructure is managed with Terraform and remote state in Azure Storage.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Application delivery uses GitHub Actions, ACR, and Helm.</a:t>
            </a:r>
            <a:endParaRPr lang="en-US" sz="2400"/>
          </a:p>
        </p:txBody>
      </p:sp>
      <p:sp>
        <p:nvSpPr>
          <p:cNvPr id="7" name="TextBox 7"/>
          <p:cNvSpPr txBox="1"/>
          <p:nvPr/>
        </p:nvSpPr>
        <p:spPr>
          <a:xfrm>
            <a:off x="11900000" y="7000000"/>
            <a:ext cx="8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>
                <a:solidFill>
                  <a:srgbClr val="64748B"/>
                </a:solidFill>
              </a:rPr>
              <a:t>1</a:t>
            </a:r>
            <a:endParaRPr lang="en-US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3333500" cy="7500000"/>
          <a:chOff x="0" y="0"/>
          <a:chExt cx="13333500" cy="7500000"/>
        </a:xfrm>
      </p:grpSpPr>
      <p:sp>
        <p:nvSpPr>
          <p:cNvPr id="2" name="Rect 2"/>
          <p:cNvSpPr/>
          <p:nvPr/>
        </p:nvSpPr>
        <p:spPr>
          <a:xfrm>
            <a:off x="0" y="0"/>
            <a:ext cx="13333500" cy="25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7250000"/>
            <a:ext cx="13333500" cy="25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00000" y="520000"/>
            <a:ext cx="120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400">
                <a:b/>
                <a:solidFill>
                  <a:srgbClr val="0F172A"/>
                </a:solidFill>
              </a:rPr>
              <a:t>Project Goals</a:t>
            </a:r>
            <a:endParaRPr lang="en-US" sz="3400"/>
          </a:p>
        </p:txBody>
      </p:sp>
      <p:sp>
        <p:nvSpPr>
          <p:cNvPr id="5" name="Bullets 5"/>
          <p:cNvSpPr txBox="1"/>
          <p:nvPr/>
        </p:nvSpPr>
        <p:spPr>
          <a:xfrm>
            <a:off x="800000" y="1550000"/>
            <a:ext cx="11800000" cy="5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Deploy a production-style microservices stack to AKS.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Use Terraform for repeatable Azure infrastructure.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Use GitHub OIDC instead of long-lived Azure client secrets.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Store database credentials in Azure Key Vault and sync them to Kubernetes.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Add observability hooks with Prometheus metrics and alerting manifests.</a:t>
            </a:r>
            <a:endParaRPr lang="en-US" sz="2400"/>
          </a:p>
        </p:txBody>
      </p:sp>
      <p:sp>
        <p:nvSpPr>
          <p:cNvPr id="6" name="TextBox 6"/>
          <p:cNvSpPr txBox="1"/>
          <p:nvPr/>
        </p:nvSpPr>
        <p:spPr>
          <a:xfrm>
            <a:off x="11900000" y="7000000"/>
            <a:ext cx="8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>
                <a:solidFill>
                  <a:srgbClr val="64748B"/>
                </a:solidFill>
              </a:rPr>
              <a:t>2</a:t>
            </a:r>
            <a:endParaRPr 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3333500" cy="7500000"/>
          <a:chOff x="0" y="0"/>
          <a:chExt cx="13333500" cy="7500000"/>
        </a:xfrm>
      </p:grpSpPr>
      <p:sp>
        <p:nvSpPr>
          <p:cNvPr id="2" name="Rect 2"/>
          <p:cNvSpPr/>
          <p:nvPr/>
        </p:nvSpPr>
        <p:spPr>
          <a:xfrm>
            <a:off x="0" y="0"/>
            <a:ext cx="13333500" cy="25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7250000"/>
            <a:ext cx="13333500" cy="25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00000" y="520000"/>
            <a:ext cx="120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400">
                <a:b/>
                <a:solidFill>
                  <a:srgbClr val="0F172A"/>
                </a:solidFill>
              </a:rPr>
              <a:t>Application Components</a:t>
            </a:r>
            <a:endParaRPr lang="en-US" sz="3400"/>
          </a:p>
        </p:txBody>
      </p:sp>
      <p:sp>
        <p:nvSpPr>
          <p:cNvPr id="5" name="Bullets 5"/>
          <p:cNvSpPr txBox="1"/>
          <p:nvPr/>
        </p:nvSpPr>
        <p:spPr>
          <a:xfrm>
            <a:off x="800000" y="1550000"/>
            <a:ext cx="11800000" cy="5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api-service: Express API for creating, processing, and listing banking transactions.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worker-service: consumes Kafka transaction messages and calls the API process endpoint.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ai-analyzer-service: receives Alertmanager webhooks and sends incident context to Azure OpenAI.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PostgreSQL Flexible Server: persistent store for banking transactions.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Strimzi Kafka: internal event bus for transaction processing.</a:t>
            </a:r>
            <a:endParaRPr lang="en-US" sz="2400"/>
          </a:p>
        </p:txBody>
      </p:sp>
      <p:sp>
        <p:nvSpPr>
          <p:cNvPr id="6" name="TextBox 6"/>
          <p:cNvSpPr txBox="1"/>
          <p:nvPr/>
        </p:nvSpPr>
        <p:spPr>
          <a:xfrm>
            <a:off x="11900000" y="7000000"/>
            <a:ext cx="8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>
                <a:solidFill>
                  <a:srgbClr val="64748B"/>
                </a:solidFill>
              </a:rPr>
              <a:t>3</a:t>
            </a:r>
            <a:endParaRPr lang="en-US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3333500" cy="7500000"/>
          <a:chOff x="0" y="0"/>
          <a:chExt cx="13333500" cy="7500000"/>
        </a:xfrm>
      </p:grpSpPr>
      <p:sp>
        <p:nvSpPr>
          <p:cNvPr id="2" name="Rect 2"/>
          <p:cNvSpPr/>
          <p:nvPr/>
        </p:nvSpPr>
        <p:spPr>
          <a:xfrm>
            <a:off x="0" y="0"/>
            <a:ext cx="13333500" cy="25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7250000"/>
            <a:ext cx="13333500" cy="25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00000" y="520000"/>
            <a:ext cx="120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400">
                <a:b/>
                <a:solidFill>
                  <a:srgbClr val="0F172A"/>
                </a:solidFill>
              </a:rPr>
              <a:t>High-Level Architecture</a:t>
            </a:r>
            <a:endParaRPr lang="en-US" sz="3400"/>
          </a:p>
        </p:txBody>
      </p:sp>
      <p:sp>
        <p:nvSpPr>
          <p:cNvPr id="5" name="Bullets 5"/>
          <p:cNvSpPr txBox="1"/>
          <p:nvPr/>
        </p:nvSpPr>
        <p:spPr>
          <a:xfrm>
            <a:off x="800000" y="1550000"/>
            <a:ext cx="11800000" cy="5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Client or ingress calls api-service on port 3000.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api-service writes PENDING transaction rows to PostgreSQL.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api-service publishes transaction messages to Kafka topic transactions.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worker-service consumes Kafka messages and marks transactions PROCESSED through the API.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Prometheus scrapes /metrics and Alertmanager can notify ai-analyzer-service.</a:t>
            </a:r>
            <a:endParaRPr lang="en-US" sz="2400"/>
          </a:p>
        </p:txBody>
      </p:sp>
      <p:sp>
        <p:nvSpPr>
          <p:cNvPr id="6" name="TextBox 6"/>
          <p:cNvSpPr txBox="1"/>
          <p:nvPr/>
        </p:nvSpPr>
        <p:spPr>
          <a:xfrm>
            <a:off x="11900000" y="7000000"/>
            <a:ext cx="8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>
                <a:solidFill>
                  <a:srgbClr val="64748B"/>
                </a:solidFill>
              </a:rPr>
              <a:t>4</a:t>
            </a:r>
            <a:endParaRPr lang="en-US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3333500" cy="7500000"/>
          <a:chOff x="0" y="0"/>
          <a:chExt cx="13333500" cy="7500000"/>
        </a:xfrm>
      </p:grpSpPr>
      <p:sp>
        <p:nvSpPr>
          <p:cNvPr id="2" name="Rect 2"/>
          <p:cNvSpPr/>
          <p:nvPr/>
        </p:nvSpPr>
        <p:spPr>
          <a:xfrm>
            <a:off x="0" y="0"/>
            <a:ext cx="13333500" cy="25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7250000"/>
            <a:ext cx="13333500" cy="25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00000" y="520000"/>
            <a:ext cx="120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400">
                <a:b/>
                <a:solidFill>
                  <a:srgbClr val="0F172A"/>
                </a:solidFill>
              </a:rPr>
              <a:t>Azure Infrastructure</a:t>
            </a:r>
            <a:endParaRPr lang="en-US" sz="3400"/>
          </a:p>
        </p:txBody>
      </p:sp>
      <p:sp>
        <p:nvSpPr>
          <p:cNvPr id="5" name="Bullets 5"/>
          <p:cNvSpPr txBox="1"/>
          <p:nvPr/>
        </p:nvSpPr>
        <p:spPr>
          <a:xfrm>
            <a:off x="800000" y="1550000"/>
            <a:ext cx="11800000" cy="5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Resource group: rg-banking-app-dev.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AKS cluster: banking-app-dev-aks in Canada Central.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ACR: bankingappdev.azurecr.io for service images.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Key Vault: banking-dev-kv-31065 for application secrets.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PostgreSQL: banking-app-dev-pg-31065.postgres.database.azure.com.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Terraform state: Azure Storage account bankingtfstate31065, container tfstate.</a:t>
            </a:r>
            <a:endParaRPr lang="en-US" sz="2400"/>
          </a:p>
        </p:txBody>
      </p:sp>
      <p:sp>
        <p:nvSpPr>
          <p:cNvPr id="6" name="TextBox 6"/>
          <p:cNvSpPr txBox="1"/>
          <p:nvPr/>
        </p:nvSpPr>
        <p:spPr>
          <a:xfrm>
            <a:off x="11900000" y="7000000"/>
            <a:ext cx="8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>
                <a:solidFill>
                  <a:srgbClr val="64748B"/>
                </a:solidFill>
              </a:rPr>
              <a:t>5</a:t>
            </a:r>
            <a:endParaRPr lang="en-US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3333500" cy="7500000"/>
          <a:chOff x="0" y="0"/>
          <a:chExt cx="13333500" cy="7500000"/>
        </a:xfrm>
      </p:grpSpPr>
      <p:sp>
        <p:nvSpPr>
          <p:cNvPr id="2" name="Rect 2"/>
          <p:cNvSpPr/>
          <p:nvPr/>
        </p:nvSpPr>
        <p:spPr>
          <a:xfrm>
            <a:off x="0" y="0"/>
            <a:ext cx="13333500" cy="25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7250000"/>
            <a:ext cx="13333500" cy="25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00000" y="520000"/>
            <a:ext cx="120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400">
                <a:b/>
                <a:solidFill>
                  <a:srgbClr val="0F172A"/>
                </a:solidFill>
              </a:rPr>
              <a:t>Terraform Layout</a:t>
            </a:r>
            <a:endParaRPr lang="en-US" sz="3400"/>
          </a:p>
        </p:txBody>
      </p:sp>
      <p:sp>
        <p:nvSpPr>
          <p:cNvPr id="5" name="Bullets 5"/>
          <p:cNvSpPr txBox="1"/>
          <p:nvPr/>
        </p:nvSpPr>
        <p:spPr>
          <a:xfrm>
            <a:off x="800000" y="1550000"/>
            <a:ext cx="11800000" cy="5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terraform/main.tf creates Azure resource group, ACR import, AKS, PostgreSQL, Key Vault, role assignments, and GitHub OIDC identity.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terraform/backend.tf configures the azurerm remote state backend.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terraform/outputs.tf prints AKS, ACR, Key Vault, tenant, subscription, and GitHub client ID outputs.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terraform/02-cluster-addons is intended for cluster add-ons such as controllers and platform services.</a:t>
            </a:r>
            <a:endParaRPr lang="en-US" sz="2400"/>
          </a:p>
        </p:txBody>
      </p:sp>
      <p:sp>
        <p:nvSpPr>
          <p:cNvPr id="6" name="TextBox 6"/>
          <p:cNvSpPr txBox="1"/>
          <p:nvPr/>
        </p:nvSpPr>
        <p:spPr>
          <a:xfrm>
            <a:off x="11900000" y="7000000"/>
            <a:ext cx="8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>
                <a:solidFill>
                  <a:srgbClr val="64748B"/>
                </a:solidFill>
              </a:rPr>
              <a:t>6</a:t>
            </a:r>
            <a:endParaRPr lang="en-US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3333500" cy="7500000"/>
          <a:chOff x="0" y="0"/>
          <a:chExt cx="13333500" cy="7500000"/>
        </a:xfrm>
      </p:grpSpPr>
      <p:sp>
        <p:nvSpPr>
          <p:cNvPr id="2" name="Rect 2"/>
          <p:cNvSpPr/>
          <p:nvPr/>
        </p:nvSpPr>
        <p:spPr>
          <a:xfrm>
            <a:off x="0" y="0"/>
            <a:ext cx="13333500" cy="25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7250000"/>
            <a:ext cx="13333500" cy="25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00000" y="520000"/>
            <a:ext cx="120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400">
                <a:b/>
                <a:solidFill>
                  <a:srgbClr val="0F172A"/>
                </a:solidFill>
              </a:rPr>
              <a:t>GitHub Actions Flow</a:t>
            </a:r>
            <a:endParaRPr lang="en-US" sz="3400"/>
          </a:p>
        </p:txBody>
      </p:sp>
      <p:sp>
        <p:nvSpPr>
          <p:cNvPr id="5" name="Bullets 5"/>
          <p:cNvSpPr txBox="1"/>
          <p:nvPr/>
        </p:nvSpPr>
        <p:spPr>
          <a:xfrm>
            <a:off x="800000" y="1550000"/>
            <a:ext cx="11800000" cy="5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Terraform workflow runs fmt, init, validate, and plan on infrastructure changes.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Manual workflow_dispatch with apply=true applies Terraform from main.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Build and Deploy to AKS workflow builds Docker images and pushes to ACR.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Helm deploys api-service, worker-service, and ai-analyzer-service to the banking-app namespace.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GitHub OIDC authenticates to Azure without storing an Azure client secret.</a:t>
            </a:r>
            <a:endParaRPr lang="en-US" sz="2400"/>
          </a:p>
        </p:txBody>
      </p:sp>
      <p:sp>
        <p:nvSpPr>
          <p:cNvPr id="6" name="TextBox 6"/>
          <p:cNvSpPr txBox="1"/>
          <p:nvPr/>
        </p:nvSpPr>
        <p:spPr>
          <a:xfrm>
            <a:off x="11900000" y="7000000"/>
            <a:ext cx="8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>
                <a:solidFill>
                  <a:srgbClr val="64748B"/>
                </a:solidFill>
              </a:rPr>
              <a:t>7</a:t>
            </a:r>
            <a:endParaRPr lang="en-US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3333500" cy="7500000"/>
          <a:chOff x="0" y="0"/>
          <a:chExt cx="13333500" cy="7500000"/>
        </a:xfrm>
      </p:grpSpPr>
      <p:sp>
        <p:nvSpPr>
          <p:cNvPr id="2" name="Rect 2"/>
          <p:cNvSpPr/>
          <p:nvPr/>
        </p:nvSpPr>
        <p:spPr>
          <a:xfrm>
            <a:off x="0" y="0"/>
            <a:ext cx="13333500" cy="25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7250000"/>
            <a:ext cx="13333500" cy="25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00000" y="520000"/>
            <a:ext cx="120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400">
                <a:b/>
                <a:solidFill>
                  <a:srgbClr val="0F172A"/>
                </a:solidFill>
              </a:rPr>
              <a:t>Kubernetes Deployment</a:t>
            </a:r>
            <a:endParaRPr lang="en-US" sz="3400"/>
          </a:p>
        </p:txBody>
      </p:sp>
      <p:sp>
        <p:nvSpPr>
          <p:cNvPr id="5" name="Bullets 5"/>
          <p:cNvSpPr txBox="1"/>
          <p:nvPr/>
        </p:nvSpPr>
        <p:spPr>
          <a:xfrm>
            <a:off x="800000" y="1550000"/>
            <a:ext cx="11800000" cy="5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Helm chart path: helm/banking-app.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Namespace: banking-app.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api-service uses postgres-secret-kv generated by Secrets Store CSI Driver.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worker-service uses internal API URL http://api-service:3000 and Kafka bootstrap service.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Kafka bootstrap endpoint: my-cluster-kafka-bootstrap.kafka.svc:9092.</a:t>
            </a:r>
            <a:endParaRPr lang="en-US" sz="2400"/>
          </a:p>
        </p:txBody>
      </p:sp>
      <p:sp>
        <p:nvSpPr>
          <p:cNvPr id="6" name="TextBox 6"/>
          <p:cNvSpPr txBox="1"/>
          <p:nvPr/>
        </p:nvSpPr>
        <p:spPr>
          <a:xfrm>
            <a:off x="11900000" y="7000000"/>
            <a:ext cx="8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>
                <a:solidFill>
                  <a:srgbClr val="64748B"/>
                </a:solidFill>
              </a:rPr>
              <a:t>8</a:t>
            </a:r>
            <a:endParaRPr lang="en-US"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3333500" cy="7500000"/>
          <a:chOff x="0" y="0"/>
          <a:chExt cx="13333500" cy="7500000"/>
        </a:xfrm>
      </p:grpSpPr>
      <p:sp>
        <p:nvSpPr>
          <p:cNvPr id="2" name="Rect 2"/>
          <p:cNvSpPr/>
          <p:nvPr/>
        </p:nvSpPr>
        <p:spPr>
          <a:xfrm>
            <a:off x="0" y="0"/>
            <a:ext cx="13333500" cy="25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7250000"/>
            <a:ext cx="13333500" cy="25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00000" y="520000"/>
            <a:ext cx="120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400">
                <a:b/>
                <a:solidFill>
                  <a:srgbClr val="0F172A"/>
                </a:solidFill>
              </a:rPr>
              <a:t>Secrets and Identity</a:t>
            </a:r>
            <a:endParaRPr lang="en-US" sz="3400"/>
          </a:p>
        </p:txBody>
      </p:sp>
      <p:sp>
        <p:nvSpPr>
          <p:cNvPr id="5" name="Bullets 5"/>
          <p:cNvSpPr txBox="1"/>
          <p:nvPr/>
        </p:nvSpPr>
        <p:spPr>
          <a:xfrm>
            <a:off x="800000" y="1550000"/>
            <a:ext cx="11800000" cy="5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postgres-spc.yaml defines SecretProviderClass postgres-kv-secrets.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AKS Key Vault CSI identity client ID is used as userAssignedIdentityID.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Key Vault secrets DB-HOST, DB-PORT, DB-USER, DB-PASSWORD, DB-NAME sync into Kubernetes secret postgres-secret-kv.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GitHub Actions secrets include AZURE_CLIENT_ID, AZURE_TENANT_ID, AZURE_SUBSCRIPTION_ID, and POSTGRES_ADMIN_PASSWORD.</a:t>
            </a:r>
            <a:endParaRPr lang="en-US" sz="2400"/>
          </a:p>
        </p:txBody>
      </p:sp>
      <p:sp>
        <p:nvSpPr>
          <p:cNvPr id="6" name="TextBox 6"/>
          <p:cNvSpPr txBox="1"/>
          <p:nvPr/>
        </p:nvSpPr>
        <p:spPr>
          <a:xfrm>
            <a:off x="11900000" y="7000000"/>
            <a:ext cx="8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>
                <a:solidFill>
                  <a:srgbClr val="64748B"/>
                </a:solidFill>
              </a:rPr>
              <a:t>9</a:t>
            </a:r>
            <a:endParaRPr lang="en-US"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3333500" cy="7500000"/>
          <a:chOff x="0" y="0"/>
          <a:chExt cx="13333500" cy="7500000"/>
        </a:xfrm>
      </p:grpSpPr>
      <p:sp>
        <p:nvSpPr>
          <p:cNvPr id="2" name="Rect 2"/>
          <p:cNvSpPr/>
          <p:nvPr/>
        </p:nvSpPr>
        <p:spPr>
          <a:xfrm>
            <a:off x="0" y="0"/>
            <a:ext cx="13333500" cy="25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7250000"/>
            <a:ext cx="13333500" cy="25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00000" y="520000"/>
            <a:ext cx="120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400">
                <a:b/>
                <a:solidFill>
                  <a:srgbClr val="0F172A"/>
                </a:solidFill>
              </a:rPr>
              <a:t>Kafka and Strimzi</a:t>
            </a:r>
            <a:endParaRPr lang="en-US" sz="3400"/>
          </a:p>
        </p:txBody>
      </p:sp>
      <p:sp>
        <p:nvSpPr>
          <p:cNvPr id="5" name="Bullets 5"/>
          <p:cNvSpPr txBox="1"/>
          <p:nvPr/>
        </p:nvSpPr>
        <p:spPr>
          <a:xfrm>
            <a:off x="800000" y="1550000"/>
            <a:ext cx="11800000" cy="5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The installed Strimzi CRDs serve kafka.strimzi.io/v1.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Kafka cluster now uses KafkaNodePool plus Kafka custom resources.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single-node KafkaNodePool has one pod with broker and controller roles.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transactions-topic.yaml creates KafkaTopic transactions with one partition and one replica.</a:t>
            </a:r>
            <a:endParaRPr lang="en-US" sz="2400"/>
          </a:p>
        </p:txBody>
      </p:sp>
      <p:sp>
        <p:nvSpPr>
          <p:cNvPr id="6" name="TextBox 6"/>
          <p:cNvSpPr txBox="1"/>
          <p:nvPr/>
        </p:nvSpPr>
        <p:spPr>
          <a:xfrm>
            <a:off x="11900000" y="7000000"/>
            <a:ext cx="8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>
                <a:solidFill>
                  <a:srgbClr val="64748B"/>
                </a:solidFill>
              </a:rPr>
              <a:t>10</a:t>
            </a:r>
            <a:endParaRPr lang="en-US"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3333500" cy="7500000"/>
          <a:chOff x="0" y="0"/>
          <a:chExt cx="13333500" cy="7500000"/>
        </a:xfrm>
      </p:grpSpPr>
      <p:sp>
        <p:nvSpPr>
          <p:cNvPr id="2" name="Rect 2"/>
          <p:cNvSpPr/>
          <p:nvPr/>
        </p:nvSpPr>
        <p:spPr>
          <a:xfrm>
            <a:off x="0" y="0"/>
            <a:ext cx="13333500" cy="25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7250000"/>
            <a:ext cx="13333500" cy="25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00000" y="520000"/>
            <a:ext cx="120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400">
                <a:b/>
                <a:solidFill>
                  <a:srgbClr val="0F172A"/>
                </a:solidFill>
              </a:rPr>
              <a:t>Observability</a:t>
            </a:r>
            <a:endParaRPr lang="en-US" sz="3400"/>
          </a:p>
        </p:txBody>
      </p:sp>
      <p:sp>
        <p:nvSpPr>
          <p:cNvPr id="5" name="Bullets 5"/>
          <p:cNvSpPr txBox="1"/>
          <p:nvPr/>
        </p:nvSpPr>
        <p:spPr>
          <a:xfrm>
            <a:off x="800000" y="1550000"/>
            <a:ext cx="11800000" cy="5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api-service exposes /metrics with HTTP request, latency, transaction, and error metrics.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worker-service exposes /metrics on port 4000 with Kafka processing counters.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worker-service-monitor.yaml defines a ServiceMonitor for Prometheus Operator.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worker-kafka-alerts.yaml defines an alert for Kafka worker processing errors.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ai-analyzer-service can receive Alertmanager webhooks and summarize incidents.</a:t>
            </a:r>
            <a:endParaRPr lang="en-US" sz="2400"/>
          </a:p>
        </p:txBody>
      </p:sp>
      <p:sp>
        <p:nvSpPr>
          <p:cNvPr id="6" name="TextBox 6"/>
          <p:cNvSpPr txBox="1"/>
          <p:nvPr/>
        </p:nvSpPr>
        <p:spPr>
          <a:xfrm>
            <a:off x="11900000" y="7000000"/>
            <a:ext cx="8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>
                <a:solidFill>
                  <a:srgbClr val="64748B"/>
                </a:solidFill>
              </a:rPr>
              <a:t>11</a:t>
            </a:r>
            <a:endParaRPr lang="en-US"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3333500" cy="7500000"/>
          <a:chOff x="0" y="0"/>
          <a:chExt cx="13333500" cy="7500000"/>
        </a:xfrm>
      </p:grpSpPr>
      <p:sp>
        <p:nvSpPr>
          <p:cNvPr id="2" name="Rect 2"/>
          <p:cNvSpPr/>
          <p:nvPr/>
        </p:nvSpPr>
        <p:spPr>
          <a:xfrm>
            <a:off x="0" y="0"/>
            <a:ext cx="13333500" cy="25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7250000"/>
            <a:ext cx="13333500" cy="25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00000" y="520000"/>
            <a:ext cx="120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400">
                <a:b/>
                <a:solidFill>
                  <a:srgbClr val="0F172A"/>
                </a:solidFill>
              </a:rPr>
              <a:t>Issues Found: Infrastructure</a:t>
            </a:r>
            <a:endParaRPr lang="en-US" sz="3400"/>
          </a:p>
        </p:txBody>
      </p:sp>
      <p:sp>
        <p:nvSpPr>
          <p:cNvPr id="5" name="Bullets 5"/>
          <p:cNvSpPr txBox="1"/>
          <p:nvPr/>
        </p:nvSpPr>
        <p:spPr>
          <a:xfrm>
            <a:off x="800000" y="1550000"/>
            <a:ext cx="11800000" cy="5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Microsoft.Storage and other Azure resource providers were not registered; provider registration was required.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Terraform backend initially failed with blob RBAC propagation delay; access key was used for first backend initialization.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Existing rg-banking-app-dev resource group had to be imported into Terraform state.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Existing ACR bankingappdev had to be imported and app image references updated.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Globally unique Key Vault name banking-app-dev-kv was unavailable, so banking-dev-kv-31065 was used.</a:t>
            </a:r>
            <a:endParaRPr lang="en-US" sz="2400"/>
          </a:p>
        </p:txBody>
      </p:sp>
      <p:sp>
        <p:nvSpPr>
          <p:cNvPr id="6" name="TextBox 6"/>
          <p:cNvSpPr txBox="1"/>
          <p:nvPr/>
        </p:nvSpPr>
        <p:spPr>
          <a:xfrm>
            <a:off x="11900000" y="7000000"/>
            <a:ext cx="8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>
                <a:solidFill>
                  <a:srgbClr val="64748B"/>
                </a:solidFill>
              </a:rPr>
              <a:t>12</a:t>
            </a:r>
            <a:endParaRPr lang="en-US"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3333500" cy="7500000"/>
          <a:chOff x="0" y="0"/>
          <a:chExt cx="13333500" cy="7500000"/>
        </a:xfrm>
      </p:grpSpPr>
      <p:sp>
        <p:nvSpPr>
          <p:cNvPr id="2" name="Rect 2"/>
          <p:cNvSpPr/>
          <p:nvPr/>
        </p:nvSpPr>
        <p:spPr>
          <a:xfrm>
            <a:off x="0" y="0"/>
            <a:ext cx="13333500" cy="25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7250000"/>
            <a:ext cx="13333500" cy="25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00000" y="520000"/>
            <a:ext cx="120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400">
                <a:b/>
                <a:solidFill>
                  <a:srgbClr val="0F172A"/>
                </a:solidFill>
              </a:rPr>
              <a:t>Issues Found: AKS and PostgreSQL</a:t>
            </a:r>
            <a:endParaRPr lang="en-US" sz="3400"/>
          </a:p>
        </p:txBody>
      </p:sp>
      <p:sp>
        <p:nvSpPr>
          <p:cNvPr id="5" name="Bullets 5"/>
          <p:cNvSpPr txBox="1"/>
          <p:nvPr/>
        </p:nvSpPr>
        <p:spPr>
          <a:xfrm>
            <a:off x="800000" y="1550000"/>
            <a:ext cx="11800000" cy="5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Standard_B2s was not allowed in eastus for this subscription.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PostgreSQL Flexible Server was restricted in eastus for this subscription.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Canada Central had only 2 vCPU quota available, so AKS was reduced to one Standard_D2s_v3 node.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A failed PostgreSQL name attempt caused a name/location conflict, so server name became banking-app-dev-pg-31065.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Final Terraform drift check was cleaned by codifying AKS OIDC issuer and node pool upgrade defaults.</a:t>
            </a:r>
            <a:endParaRPr lang="en-US" sz="2400"/>
          </a:p>
        </p:txBody>
      </p:sp>
      <p:sp>
        <p:nvSpPr>
          <p:cNvPr id="6" name="TextBox 6"/>
          <p:cNvSpPr txBox="1"/>
          <p:nvPr/>
        </p:nvSpPr>
        <p:spPr>
          <a:xfrm>
            <a:off x="11900000" y="7000000"/>
            <a:ext cx="8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>
                <a:solidFill>
                  <a:srgbClr val="64748B"/>
                </a:solidFill>
              </a:rPr>
              <a:t>13</a:t>
            </a:r>
            <a:endParaRPr lang="en-US"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3333500" cy="7500000"/>
          <a:chOff x="0" y="0"/>
          <a:chExt cx="13333500" cy="7500000"/>
        </a:xfrm>
      </p:grpSpPr>
      <p:sp>
        <p:nvSpPr>
          <p:cNvPr id="2" name="Rect 2"/>
          <p:cNvSpPr/>
          <p:nvPr/>
        </p:nvSpPr>
        <p:spPr>
          <a:xfrm>
            <a:off x="0" y="0"/>
            <a:ext cx="13333500" cy="25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7250000"/>
            <a:ext cx="13333500" cy="25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00000" y="520000"/>
            <a:ext cx="120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400">
                <a:b/>
                <a:solidFill>
                  <a:srgbClr val="0F172A"/>
                </a:solidFill>
              </a:rPr>
              <a:t>Issues Found: Kubernetes</a:t>
            </a:r>
            <a:endParaRPr lang="en-US" sz="3400"/>
          </a:p>
        </p:txBody>
      </p:sp>
      <p:sp>
        <p:nvSpPr>
          <p:cNvPr id="5" name="Bullets 5"/>
          <p:cNvSpPr txBox="1"/>
          <p:nvPr/>
        </p:nvSpPr>
        <p:spPr>
          <a:xfrm>
            <a:off x="800000" y="1550000"/>
            <a:ext cx="11800000" cy="5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api-service was stuck ContainerCreating because SecretProviderClass postgres-kv-secrets was missing.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Fix: kubectl apply -f postgres-spc.yaml, then restart api-service.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ai-analyzer-service CreateContainerConfigError commonly means azure-openai-secret is missing.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Fix: create azure-openai-secret with endpoint, key, and deployment values, then restart ai-analyzer-service.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Old pods may remain from previous Helm revisions until rollout completes or old ReplicaSets are scaled down.</a:t>
            </a:r>
            <a:endParaRPr lang="en-US" sz="2400"/>
          </a:p>
        </p:txBody>
      </p:sp>
      <p:sp>
        <p:nvSpPr>
          <p:cNvPr id="6" name="TextBox 6"/>
          <p:cNvSpPr txBox="1"/>
          <p:nvPr/>
        </p:nvSpPr>
        <p:spPr>
          <a:xfrm>
            <a:off x="11900000" y="7000000"/>
            <a:ext cx="8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>
                <a:solidFill>
                  <a:srgbClr val="64748B"/>
                </a:solidFill>
              </a:rPr>
              <a:t>14</a:t>
            </a:r>
            <a:endParaRPr lang="en-US"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3333500" cy="7500000"/>
          <a:chOff x="0" y="0"/>
          <a:chExt cx="13333500" cy="7500000"/>
        </a:xfrm>
      </p:grpSpPr>
      <p:sp>
        <p:nvSpPr>
          <p:cNvPr id="2" name="Rect 2"/>
          <p:cNvSpPr/>
          <p:nvPr/>
        </p:nvSpPr>
        <p:spPr>
          <a:xfrm>
            <a:off x="0" y="0"/>
            <a:ext cx="13333500" cy="25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7250000"/>
            <a:ext cx="13333500" cy="25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00000" y="520000"/>
            <a:ext cx="120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400">
                <a:b/>
                <a:solidFill>
                  <a:srgbClr val="0F172A"/>
                </a:solidFill>
              </a:rPr>
              <a:t>Issues Found: Kafka</a:t>
            </a:r>
            <a:endParaRPr lang="en-US" sz="3400"/>
          </a:p>
        </p:txBody>
      </p:sp>
      <p:sp>
        <p:nvSpPr>
          <p:cNvPr id="5" name="Bullets 5"/>
          <p:cNvSpPr txBox="1"/>
          <p:nvPr/>
        </p:nvSpPr>
        <p:spPr>
          <a:xfrm>
            <a:off x="800000" y="1550000"/>
            <a:ext cx="11800000" cy="5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kubectl apply failed: no matches for kind Kafka in kafka.strimzi.io/v1beta2.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Root cause: installed Strimzi CRDs only served v1.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After changing to v1, strict schema rejected old zookeeper, replicas, and storage fields.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Fix: convert Kafka manifest to Strimzi v1 with KafkaNodePool and KRaft-style single-node broker/controller.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transactions KafkaTopic was also updated from v1beta2 to v1.</a:t>
            </a:r>
            <a:endParaRPr lang="en-US" sz="2400"/>
          </a:p>
        </p:txBody>
      </p:sp>
      <p:sp>
        <p:nvSpPr>
          <p:cNvPr id="6" name="TextBox 6"/>
          <p:cNvSpPr txBox="1"/>
          <p:nvPr/>
        </p:nvSpPr>
        <p:spPr>
          <a:xfrm>
            <a:off x="11900000" y="7000000"/>
            <a:ext cx="8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>
                <a:solidFill>
                  <a:srgbClr val="64748B"/>
                </a:solidFill>
              </a:rPr>
              <a:t>15</a:t>
            </a:r>
            <a:endParaRPr lang="en-US" sz="1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3333500" cy="7500000"/>
          <a:chOff x="0" y="0"/>
          <a:chExt cx="13333500" cy="7500000"/>
        </a:xfrm>
      </p:grpSpPr>
      <p:sp>
        <p:nvSpPr>
          <p:cNvPr id="2" name="Rect 2"/>
          <p:cNvSpPr/>
          <p:nvPr/>
        </p:nvSpPr>
        <p:spPr>
          <a:xfrm>
            <a:off x="0" y="0"/>
            <a:ext cx="13333500" cy="25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7250000"/>
            <a:ext cx="13333500" cy="25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00000" y="520000"/>
            <a:ext cx="120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400">
                <a:b/>
                <a:solidFill>
                  <a:srgbClr val="0F172A"/>
                </a:solidFill>
              </a:rPr>
              <a:t>Troubleshooting Commands</a:t>
            </a:r>
            <a:endParaRPr lang="en-US" sz="3400"/>
          </a:p>
        </p:txBody>
      </p:sp>
      <p:sp>
        <p:nvSpPr>
          <p:cNvPr id="5" name="Bullets 5"/>
          <p:cNvSpPr txBox="1"/>
          <p:nvPr/>
        </p:nvSpPr>
        <p:spPr>
          <a:xfrm>
            <a:off x="800000" y="1550000"/>
            <a:ext cx="11800000" cy="5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kubectl describe pod -n banking-app &lt;pod&gt; to inspect scheduling, image, secret, and volume events.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kubectl get secretproviderclass -n banking-app to verify CSI secret provider resources.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kubectl get secret postgres-secret-kv -n banking-app to confirm synced DB secret.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kubectl get kafka,kafkanodepool,kafkatopic -n kafka to check Strimzi resources.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terraform -chdir=terraform plan to detect infrastructure drift.</a:t>
            </a:r>
            <a:endParaRPr lang="en-US" sz="2400"/>
          </a:p>
        </p:txBody>
      </p:sp>
      <p:sp>
        <p:nvSpPr>
          <p:cNvPr id="6" name="TextBox 6"/>
          <p:cNvSpPr txBox="1"/>
          <p:nvPr/>
        </p:nvSpPr>
        <p:spPr>
          <a:xfrm>
            <a:off x="11900000" y="7000000"/>
            <a:ext cx="8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>
                <a:solidFill>
                  <a:srgbClr val="64748B"/>
                </a:solidFill>
              </a:rPr>
              <a:t>16</a:t>
            </a:r>
            <a:endParaRPr lang="en-US" sz="1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3333500" cy="7500000"/>
          <a:chOff x="0" y="0"/>
          <a:chExt cx="13333500" cy="7500000"/>
        </a:xfrm>
      </p:grpSpPr>
      <p:sp>
        <p:nvSpPr>
          <p:cNvPr id="2" name="Rect 2"/>
          <p:cNvSpPr/>
          <p:nvPr/>
        </p:nvSpPr>
        <p:spPr>
          <a:xfrm>
            <a:off x="0" y="0"/>
            <a:ext cx="13333500" cy="25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7250000"/>
            <a:ext cx="13333500" cy="25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00000" y="520000"/>
            <a:ext cx="120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400">
                <a:b/>
                <a:solidFill>
                  <a:srgbClr val="0F172A"/>
                </a:solidFill>
              </a:rPr>
              <a:t>Recovery Playbook</a:t>
            </a:r>
            <a:endParaRPr lang="en-US" sz="3400"/>
          </a:p>
        </p:txBody>
      </p:sp>
      <p:sp>
        <p:nvSpPr>
          <p:cNvPr id="5" name="Bullets 5"/>
          <p:cNvSpPr txBox="1"/>
          <p:nvPr/>
        </p:nvSpPr>
        <p:spPr>
          <a:xfrm>
            <a:off x="800000" y="1550000"/>
            <a:ext cx="11800000" cy="5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Missing postgres-secret-kv: apply postgres-spc.yaml and restart api-service.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Kafka CRD version mismatch: check kubectl get crd kafkas.kafka.strimzi.io -o jsonpath='{.spec.versions[*].name}'.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Kafka not ready: inspect kubectl describe kafka -n kafka my-cluster and operator logs.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Image pull failure: verify ACR name, image tag, and AcrPull assignment for AKS kubelet identity.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GitHub Terraform failure: verify repo variables, secrets, and Storage Blob Data Contributor on remote state account.</a:t>
            </a:r>
            <a:endParaRPr lang="en-US" sz="2400"/>
          </a:p>
        </p:txBody>
      </p:sp>
      <p:sp>
        <p:nvSpPr>
          <p:cNvPr id="6" name="TextBox 6"/>
          <p:cNvSpPr txBox="1"/>
          <p:nvPr/>
        </p:nvSpPr>
        <p:spPr>
          <a:xfrm>
            <a:off x="11900000" y="7000000"/>
            <a:ext cx="8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>
                <a:solidFill>
                  <a:srgbClr val="64748B"/>
                </a:solidFill>
              </a:rPr>
              <a:t>17</a:t>
            </a:r>
            <a:endParaRPr lang="en-US" sz="1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3333500" cy="7500000"/>
          <a:chOff x="0" y="0"/>
          <a:chExt cx="13333500" cy="7500000"/>
        </a:xfrm>
      </p:grpSpPr>
      <p:sp>
        <p:nvSpPr>
          <p:cNvPr id="2" name="Rect 2"/>
          <p:cNvSpPr/>
          <p:nvPr/>
        </p:nvSpPr>
        <p:spPr>
          <a:xfrm>
            <a:off x="0" y="0"/>
            <a:ext cx="13333500" cy="25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7250000"/>
            <a:ext cx="13333500" cy="25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00000" y="520000"/>
            <a:ext cx="120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400">
                <a:b/>
                <a:solidFill>
                  <a:srgbClr val="0F172A"/>
                </a:solidFill>
              </a:rPr>
              <a:t>Demo Script</a:t>
            </a:r>
            <a:endParaRPr lang="en-US" sz="3400"/>
          </a:p>
        </p:txBody>
      </p:sp>
      <p:sp>
        <p:nvSpPr>
          <p:cNvPr id="5" name="Bullets 5"/>
          <p:cNvSpPr txBox="1"/>
          <p:nvPr/>
        </p:nvSpPr>
        <p:spPr>
          <a:xfrm>
            <a:off x="800000" y="1550000"/>
            <a:ext cx="11800000" cy="5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Show Terraform outputs and no-change plan.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Show AKS node readiness with kubectl get nodes.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Show Kafka readiness and transactions topic readiness.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Show banking-app pods and services.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Create a transaction through api-service, then confirm worker-service processes it.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Show Prometheus metrics endpoint for api-service and worker-service.</a:t>
            </a:r>
            <a:endParaRPr lang="en-US" sz="2400"/>
          </a:p>
        </p:txBody>
      </p:sp>
      <p:sp>
        <p:nvSpPr>
          <p:cNvPr id="6" name="TextBox 6"/>
          <p:cNvSpPr txBox="1"/>
          <p:nvPr/>
        </p:nvSpPr>
        <p:spPr>
          <a:xfrm>
            <a:off x="11900000" y="7000000"/>
            <a:ext cx="8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>
                <a:solidFill>
                  <a:srgbClr val="64748B"/>
                </a:solidFill>
              </a:rPr>
              <a:t>18</a:t>
            </a:r>
            <a:endParaRPr lang="en-US" sz="1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3333500" cy="7500000"/>
          <a:chOff x="0" y="0"/>
          <a:chExt cx="13333500" cy="7500000"/>
        </a:xfrm>
      </p:grpSpPr>
      <p:sp>
        <p:nvSpPr>
          <p:cNvPr id="2" name="Rect 2"/>
          <p:cNvSpPr/>
          <p:nvPr/>
        </p:nvSpPr>
        <p:spPr>
          <a:xfrm>
            <a:off x="0" y="0"/>
            <a:ext cx="13333500" cy="25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7250000"/>
            <a:ext cx="13333500" cy="25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00000" y="520000"/>
            <a:ext cx="120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400">
                <a:b/>
                <a:solidFill>
                  <a:srgbClr val="0F172A"/>
                </a:solidFill>
              </a:rPr>
              <a:t>Current Status</a:t>
            </a:r>
            <a:endParaRPr lang="en-US" sz="3400"/>
          </a:p>
        </p:txBody>
      </p:sp>
      <p:sp>
        <p:nvSpPr>
          <p:cNvPr id="5" name="Bullets 5"/>
          <p:cNvSpPr txBox="1"/>
          <p:nvPr/>
        </p:nvSpPr>
        <p:spPr>
          <a:xfrm>
            <a:off x="800000" y="1550000"/>
            <a:ext cx="11800000" cy="5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Terraform infrastructure applied successfully with no drift.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AKS node verified Ready.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PostgreSQL Flexible Server verified Ready.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Kafka and transactions topic verified Ready after Strimzi v1 conversion.</a:t>
            </a:r>
            <a:endParaRPr lang="en-US" sz="2400"/>
          </a:p>
          <a:p>
            <a:pPr marL="330200" indent="-228600"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</a:rPr>
              <a:t>Remaining app readiness depends on applying postgres-spc.yaml and creating azure-openai-secret when needed.</a:t>
            </a:r>
            <a:endParaRPr lang="en-US" sz="2400"/>
          </a:p>
        </p:txBody>
      </p:sp>
      <p:sp>
        <p:nvSpPr>
          <p:cNvPr id="6" name="TextBox 6"/>
          <p:cNvSpPr txBox="1"/>
          <p:nvPr/>
        </p:nvSpPr>
        <p:spPr>
          <a:xfrm>
            <a:off x="11900000" y="7000000"/>
            <a:ext cx="8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>
                <a:solidFill>
                  <a:srgbClr val="64748B"/>
                </a:solidFill>
              </a:rPr>
              <a:t>19</a:t>
            </a:r>
            <a:endParaRPr lang="en-US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nking Theme">
  <a:themeElements>
    <a:clrScheme name="Banking">
      <a:dk1>
        <a:srgbClr val="0F172A"/>
      </a:dk1>
      <a:lt1>
        <a:srgbClr val="FFFFFF"/>
      </a:lt1>
      <a:dk2>
        <a:srgbClr val="1E293B"/>
      </a:dk2>
      <a:lt2>
        <a:srgbClr val="F8FAFC"/>
      </a:lt2>
      <a:accent1>
        <a:srgbClr val="2563EB"/>
      </a:accent1>
      <a:accent2>
        <a:srgbClr val="10B981"/>
      </a:accent2>
      <a:accent3>
        <a:srgbClr val="F59E0B"/>
      </a:accent3>
      <a:accent4>
        <a:srgbClr val="EF4444"/>
      </a:accent4>
      <a:accent5>
        <a:srgbClr val="64748B"/>
      </a:accent5>
      <a:accent6>
        <a:srgbClr val="0F172A"/>
      </a:accent6>
      <a:hlink>
        <a:srgbClr val="2563EB"/>
      </a:hlink>
      <a:folHlink>
        <a:srgbClr val="7C3AED"/>
      </a:folHlink>
    </a:clrScheme>
    <a:fontScheme name="Arial">
      <a:majorFont>
        <a:latin typeface="Arial"/>
      </a:majorFont>
      <a:minorFont>
        <a:latin typeface="Arial"/>
      </a:minorFont>
    </a:fontScheme>
    <a:fmtScheme name="Defaul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Widescreen</PresentationFormat>
  <Slides>19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Banking Microservices on AKS</dc:title>
  <dc:subject>Project presentation and troubleshooting guide</dc:subject>
  <dc:creator>Codex</dc:creator>
</cp:coreProperties>
</file>